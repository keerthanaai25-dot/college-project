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embeddedFontLst>
    <p:embeddedFont>
      <p:font typeface="Tahoma" panose="020B060403050404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EA+Qf8WNhmRbVLwGUtjb3IDoA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38D44E-1724-4FB2-BC19-819A6C0CA483}">
  <a:tblStyle styleId="{C438D44E-1724-4FB2-BC19-819A6C0CA4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6d8434914a404465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h6d8434914a404465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h6d8434914a404465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6d8434914a404465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h6d8434914a404465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6d8434914a404465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h6d8434914a404465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h6d8434914a404465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6d8434914a404465_0_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h6d8434914a404465_0_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h6d8434914a404465_0_1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h6d8434914a404465_0_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6d8434914a404465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h6d8434914a404465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6d8434914a404465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h6d8434914a404465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h6d8434914a404465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6d8434914a404465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h6d8434914a404465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6d8434914a404465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h6d8434914a404465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h6d8434914a404465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h6d8434914a404465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h6d8434914a404465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6d8434914a404465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h6d8434914a404465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6d8434914a404465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h6d8434914a404465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h6d8434914a404465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6d8434914a404465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d8434914a404465_0_45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2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h6d8434914a404465_0_45"/>
          <p:cNvSpPr txBox="1">
            <a:spLocks noGrp="1"/>
          </p:cNvSpPr>
          <p:nvPr>
            <p:ph type="body" idx="1"/>
          </p:nvPr>
        </p:nvSpPr>
        <p:spPr>
          <a:xfrm>
            <a:off x="778865" y="1382908"/>
            <a:ext cx="10629900" cy="3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400"/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marL="2286000" lvl="4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marL="2743200" lvl="5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h6d8434914a404465_0_4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h6d8434914a404465_0_4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h6d8434914a404465_0_4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d8434914a404465_0_51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2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h6d8434914a404465_0_5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h6d8434914a404465_0_5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h6d8434914a404465_0_5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6d8434914a404465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h6d8434914a404465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h6d8434914a404465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google.com/spreadsheets/d/1LCV7q40KF9RITTVPM_0HYjwvWzbGLw3V/edit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18870" marR="5080" lvl="0" indent="-1106805" algn="l" rtl="0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FF0066"/>
                </a:solidFill>
              </a:rPr>
              <a:t>K. RAMAKRISHNAN COLLEGE OF TECHNOLOGY (AUTONOMOUS), TIRUCHIRAPALLI</a:t>
            </a:r>
            <a:endParaRPr sz="2600"/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 txBox="1"/>
          <p:nvPr/>
        </p:nvSpPr>
        <p:spPr>
          <a:xfrm>
            <a:off x="1524000" y="2484077"/>
            <a:ext cx="94151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AI-Based Email Spam Detection System Using Naive Bayes and NLP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297891" y="6481368"/>
            <a:ext cx="48577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8A8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6/5/24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4695126" y="3173987"/>
            <a:ext cx="2568575" cy="382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1" name="Google Shape;71;p1"/>
          <p:cNvGraphicFramePr/>
          <p:nvPr/>
        </p:nvGraphicFramePr>
        <p:xfrm>
          <a:off x="3733800" y="3762367"/>
          <a:ext cx="4724400" cy="1538991"/>
        </p:xfrm>
        <a:graphic>
          <a:graphicData uri="http://schemas.openxmlformats.org/drawingml/2006/table">
            <a:tbl>
              <a:tblPr firstRow="1" bandRow="1">
                <a:noFill/>
                <a:tableStyleId>{C438D44E-1724-4FB2-BC19-819A6C0CA483}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500">
                <a:tc>
                  <a:txBody>
                    <a:bodyPr/>
                    <a:lstStyle/>
                    <a:p>
                      <a:pPr marL="36195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KAVIYA 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2503811724322041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KEERTHANA D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0475" marB="0"/>
                </a:tc>
                <a:tc>
                  <a:txBody>
                    <a:bodyPr/>
                    <a:lstStyle/>
                    <a:p>
                      <a:pPr marL="0" marR="2413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2503811724322042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04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25">
                <a:tc>
                  <a:txBody>
                    <a:bodyPr/>
                    <a:lstStyle/>
                    <a:p>
                      <a:pPr marL="3937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MOHAMED AFSAR M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tc>
                  <a:txBody>
                    <a:bodyPr/>
                    <a:lstStyle/>
                    <a:p>
                      <a:pPr marL="0" marR="3302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2503811724321054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4953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MOHAMED ARSHAD M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tc>
                  <a:txBody>
                    <a:bodyPr/>
                    <a:lstStyle/>
                    <a:p>
                      <a:pPr marL="0" marR="43815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2503811724321055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Google Shape;72;p1"/>
          <p:cNvSpPr txBox="1"/>
          <p:nvPr/>
        </p:nvSpPr>
        <p:spPr>
          <a:xfrm>
            <a:off x="2688336" y="1920240"/>
            <a:ext cx="678903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/>
              <a:t>AGI1242  -  Machine Learning Techniques</a:t>
            </a:r>
            <a:endParaRPr/>
          </a:p>
        </p:txBody>
      </p:sp>
      <p:sp>
        <p:nvSpPr>
          <p:cNvPr id="73" name="Google Shape;73;p1"/>
          <p:cNvSpPr txBox="1"/>
          <p:nvPr/>
        </p:nvSpPr>
        <p:spPr>
          <a:xfrm>
            <a:off x="8153400" y="5797433"/>
            <a:ext cx="394210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/>
              <a:t>GUIDED BY 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/>
              <a:t>              Mrs. M.A. Reetha Jeyarani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/>
        </p:nvSpPr>
        <p:spPr>
          <a:xfrm>
            <a:off x="10683875" y="617784"/>
            <a:ext cx="1778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66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8725" rIns="0" bIns="0" anchor="t" anchorCtr="0">
            <a:spAutoFit/>
          </a:bodyPr>
          <a:lstStyle/>
          <a:p>
            <a:pPr marL="29533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OBJECTIVE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82244" y="1556130"/>
            <a:ext cx="10723880" cy="299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Classify emails as </a:t>
            </a:r>
            <a:r>
              <a:rPr lang="en-IN" sz="2000" b="1"/>
              <a:t>Spam or Legitimate</a:t>
            </a:r>
            <a:r>
              <a:rPr lang="en-IN" sz="2000"/>
              <a:t> using NLP/ML. </a:t>
            </a:r>
            <a:endParaRPr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Detect </a:t>
            </a:r>
            <a:r>
              <a:rPr lang="en-IN" sz="2000" b="1"/>
              <a:t>phishing, malware, and fraud</a:t>
            </a:r>
            <a:r>
              <a:rPr lang="en-IN" sz="2000"/>
              <a:t>. </a:t>
            </a:r>
            <a:endParaRPr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Reduce </a:t>
            </a:r>
            <a:r>
              <a:rPr lang="en-IN" sz="2000" b="1"/>
              <a:t>false positives</a:t>
            </a:r>
            <a:r>
              <a:rPr lang="en-IN" sz="2000"/>
              <a:t> and protect genuine emails. </a:t>
            </a:r>
            <a:endParaRPr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Adapt to </a:t>
            </a:r>
            <a:r>
              <a:rPr lang="en-IN" sz="2000" b="1"/>
              <a:t>new spam tactics</a:t>
            </a:r>
            <a:r>
              <a:rPr lang="en-IN" sz="2000"/>
              <a:t> through continuous learning. </a:t>
            </a:r>
            <a:endParaRPr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Enable </a:t>
            </a:r>
            <a:r>
              <a:rPr lang="en-IN" sz="2000" b="1"/>
              <a:t>real-time filtering</a:t>
            </a:r>
            <a:r>
              <a:rPr lang="en-IN" sz="2000"/>
              <a:t> with confidence scores for review.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10683875" y="617784"/>
            <a:ext cx="1778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 descr="$PPTXTitle"/>
          <p:cNvSpPr txBox="1">
            <a:spLocks noGrp="1"/>
          </p:cNvSpPr>
          <p:nvPr>
            <p:ph type="title"/>
          </p:nvPr>
        </p:nvSpPr>
        <p:spPr>
          <a:xfrm>
            <a:off x="3200401" y="471039"/>
            <a:ext cx="5867400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53213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PROBLEM IDENTIFICATION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824865" y="2057400"/>
            <a:ext cx="10036810" cy="361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Manual spam sorting is </a:t>
            </a:r>
            <a:r>
              <a:rPr lang="en-IN" sz="2000" b="1"/>
              <a:t>time-consuming</a:t>
            </a:r>
            <a:r>
              <a:rPr lang="en-IN" sz="2000"/>
              <a:t>. </a:t>
            </a:r>
            <a:endParaRPr/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Rule-based filters are </a:t>
            </a:r>
            <a:r>
              <a:rPr lang="en-IN" sz="2000" b="1"/>
              <a:t>static and easy to bypass</a:t>
            </a:r>
            <a:r>
              <a:rPr lang="en-IN" sz="2000"/>
              <a:t>. </a:t>
            </a:r>
            <a:endParaRPr/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Spammers constantly </a:t>
            </a:r>
            <a:r>
              <a:rPr lang="en-IN" sz="2000" b="1"/>
              <a:t>change their tactics</a:t>
            </a:r>
            <a:r>
              <a:rPr lang="en-IN" sz="2000"/>
              <a:t>. </a:t>
            </a:r>
            <a:endParaRPr/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Genuine emails may be </a:t>
            </a:r>
            <a:r>
              <a:rPr lang="en-IN" sz="2000" b="1"/>
              <a:t>wrongly marked as spam</a:t>
            </a:r>
            <a:r>
              <a:rPr lang="en-IN" sz="2000"/>
              <a:t>. </a:t>
            </a:r>
            <a:endParaRPr/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Phishing and malware emails can </a:t>
            </a:r>
            <a:r>
              <a:rPr lang="en-IN" sz="2000" b="1"/>
              <a:t>threaten security</a:t>
            </a:r>
            <a:r>
              <a:rPr lang="en-IN" sz="2000"/>
              <a:t>. </a:t>
            </a:r>
            <a:endParaRPr/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IN" sz="2000"/>
              <a:t>Existing systems often </a:t>
            </a:r>
            <a:r>
              <a:rPr lang="en-IN" sz="2000" b="1"/>
              <a:t>cannot adapt to new spam patterns</a:t>
            </a:r>
            <a:r>
              <a:rPr lang="en-IN" sz="2000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 descr="$PPTXTitle"/>
          <p:cNvSpPr txBox="1">
            <a:spLocks noGrp="1"/>
          </p:cNvSpPr>
          <p:nvPr>
            <p:ph type="title"/>
          </p:nvPr>
        </p:nvSpPr>
        <p:spPr>
          <a:xfrm>
            <a:off x="2644090" y="130506"/>
            <a:ext cx="8003400" cy="721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050" rIns="0" bIns="0" anchor="t" anchorCtr="0">
            <a:spAutoFit/>
          </a:bodyPr>
          <a:lstStyle/>
          <a:p>
            <a:pPr marL="18745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FLOW DIAGRAM</a:t>
            </a:r>
            <a:endParaRPr sz="2400" dirty="0"/>
          </a:p>
        </p:txBody>
      </p:sp>
      <p:sp>
        <p:nvSpPr>
          <p:cNvPr id="97" name="Google Shape;97;p5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0551" y="852297"/>
            <a:ext cx="6300597" cy="60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13" y="22986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7823" y="-50"/>
            <a:ext cx="1154112" cy="110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 descr="$PPTXTitle"/>
          <p:cNvSpPr txBox="1">
            <a:spLocks noGrp="1"/>
          </p:cNvSpPr>
          <p:nvPr>
            <p:ph type="title"/>
          </p:nvPr>
        </p:nvSpPr>
        <p:spPr>
          <a:xfrm>
            <a:off x="4574540" y="352171"/>
            <a:ext cx="4264660" cy="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LITERATURE SURVEY</a:t>
            </a:r>
            <a:endParaRPr sz="2400" dirty="0"/>
          </a:p>
        </p:txBody>
      </p:sp>
      <p:sp>
        <p:nvSpPr>
          <p:cNvPr id="108" name="Google Shape;108;p6"/>
          <p:cNvSpPr txBox="1"/>
          <p:nvPr/>
        </p:nvSpPr>
        <p:spPr>
          <a:xfrm>
            <a:off x="3063240" y="1554480"/>
            <a:ext cx="18473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9" name="Google Shape;109;p6"/>
          <p:cNvSpPr txBox="1"/>
          <p:nvPr/>
        </p:nvSpPr>
        <p:spPr>
          <a:xfrm>
            <a:off x="3047238" y="2967335"/>
            <a:ext cx="60944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>
                <a:solidFill>
                  <a:schemeClr val="hlink"/>
                </a:solidFill>
                <a:hlinkClick r:id="rId5"/>
              </a:rPr>
              <a:t>Literature Survey – Google sheets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48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800" rIns="0" bIns="0" anchor="t" anchorCtr="0">
            <a:spAutoFit/>
          </a:bodyPr>
          <a:lstStyle/>
          <a:p>
            <a:pPr marL="21113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RESEARCH METHODOLOGY</a:t>
            </a:r>
            <a:endParaRPr sz="2400" dirty="0"/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914400" y="2015921"/>
            <a:ext cx="9434830" cy="2782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b="1" dirty="0"/>
              <a:t>Naive Bayes</a:t>
            </a:r>
            <a:r>
              <a:rPr lang="en-IN" sz="1800" dirty="0"/>
              <a:t> uses probability-based classification to quickly identify emails as spam or legitimate. </a:t>
            </a:r>
            <a:endParaRPr sz="1800" dirty="0"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b="1" dirty="0"/>
              <a:t>TF-IDF</a:t>
            </a:r>
            <a:r>
              <a:rPr lang="en-IN" sz="1800" dirty="0"/>
              <a:t> converts email text into numerical features based on the importance of words. </a:t>
            </a:r>
            <a:endParaRPr sz="1800" dirty="0"/>
          </a:p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b="1" dirty="0"/>
              <a:t>NLP preprocessing</a:t>
            </a:r>
            <a:r>
              <a:rPr lang="en-IN" sz="1800" dirty="0"/>
              <a:t> cleans and prepares email content by removing unnecessary words and noise. 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7250" rIns="0" bIns="0" anchor="t" anchorCtr="0">
            <a:spAutoFit/>
          </a:bodyPr>
          <a:lstStyle/>
          <a:p>
            <a:pPr marL="181863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rgbClr val="002060"/>
                </a:solidFill>
              </a:rPr>
              <a:t>COMPARE ALGORITHM</a:t>
            </a:r>
            <a:endParaRPr sz="2800" dirty="0"/>
          </a:p>
        </p:txBody>
      </p:sp>
      <p:sp>
        <p:nvSpPr>
          <p:cNvPr id="123" name="Google Shape;123;p8"/>
          <p:cNvSpPr txBox="1"/>
          <p:nvPr/>
        </p:nvSpPr>
        <p:spPr>
          <a:xfrm>
            <a:off x="10674731" y="581611"/>
            <a:ext cx="196850" cy="43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805180" y="1684923"/>
            <a:ext cx="10581640" cy="333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ALGORITHM 1: NAÏVE BAYES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Principle:</a:t>
            </a:r>
            <a:br>
              <a:rPr lang="en-IN" sz="1800" dirty="0"/>
            </a:br>
            <a:r>
              <a:rPr lang="en-IN" sz="1800" dirty="0"/>
              <a:t>Naive Bayes uses probability to classify emails as </a:t>
            </a:r>
            <a:r>
              <a:rPr lang="en-IN" sz="1800" b="1" dirty="0"/>
              <a:t>Spam or Ham</a:t>
            </a:r>
            <a:r>
              <a:rPr lang="en-IN" sz="1800" dirty="0"/>
              <a:t>.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Advantages: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dirty="0"/>
              <a:t>Fast and simple. 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dirty="0"/>
              <a:t>Effective for text data. 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IN" sz="1800" dirty="0"/>
              <a:t>Works well with </a:t>
            </a:r>
            <a:r>
              <a:rPr lang="en-IN" sz="1800" b="1" dirty="0"/>
              <a:t>TF-IDF</a:t>
            </a:r>
            <a:r>
              <a:rPr lang="en-IN" sz="1800" dirty="0"/>
              <a:t> features. </a:t>
            </a:r>
            <a:endParaRPr sz="1800" dirty="0"/>
          </a:p>
          <a:p>
            <a:pPr marL="342900" lvl="0" indent="-241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0DB2-8417-E006-0831-BABE02F1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365" y="354640"/>
            <a:ext cx="4879099" cy="369332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COMPARE ALGORITHM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E7F6-29EE-39E7-F2C8-F0AB374AA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050" y="1815481"/>
            <a:ext cx="10629900" cy="3227037"/>
          </a:xfrm>
        </p:spPr>
        <p:txBody>
          <a:bodyPr/>
          <a:lstStyle/>
          <a:p>
            <a:pPr marL="0" lvl="0" indent="0">
              <a:lnSpc>
                <a:spcPct val="150000"/>
              </a:lnSpc>
            </a:pPr>
            <a:r>
              <a:rPr lang="en-US" sz="1800" b="1" dirty="0"/>
              <a:t>ALGORITHM 2: TF-IDF</a:t>
            </a:r>
            <a:endParaRPr lang="en-US" sz="1800" dirty="0"/>
          </a:p>
          <a:p>
            <a:pPr marL="0" lvl="0" indent="0">
              <a:lnSpc>
                <a:spcPct val="150000"/>
              </a:lnSpc>
            </a:pPr>
            <a:r>
              <a:rPr lang="en-US" sz="1800" b="1" dirty="0"/>
              <a:t>Principle:</a:t>
            </a:r>
            <a:br>
              <a:rPr lang="en-US" sz="1800" dirty="0"/>
            </a:br>
            <a:r>
              <a:rPr lang="en-US" sz="1800" dirty="0"/>
              <a:t>Converts email text into numerical values based on word importance.</a:t>
            </a:r>
          </a:p>
          <a:p>
            <a:pPr marL="0" lvl="0" indent="0">
              <a:lnSpc>
                <a:spcPct val="150000"/>
              </a:lnSpc>
            </a:pPr>
            <a:r>
              <a:rPr lang="en-US" sz="1800" b="1" dirty="0"/>
              <a:t>Advantages: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US" sz="1800" dirty="0"/>
              <a:t>Simple and fast. 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US" sz="1800" dirty="0"/>
              <a:t>Effective for text classification. 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US" sz="1800" dirty="0"/>
              <a:t>Reduces the impact of common words.</a:t>
            </a:r>
          </a:p>
          <a:p>
            <a:endParaRPr lang="en-IN" sz="1800" dirty="0"/>
          </a:p>
        </p:txBody>
      </p:sp>
      <p:pic>
        <p:nvPicPr>
          <p:cNvPr id="5" name="Google Shape;124;p8">
            <a:extLst>
              <a:ext uri="{FF2B5EF4-FFF2-40B4-BE49-F238E27FC236}">
                <a16:creationId xmlns:a16="http://schemas.microsoft.com/office/drawing/2014/main" id="{63D82A67-B74E-61C5-D844-5F09CDBA19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p8">
            <a:extLst>
              <a:ext uri="{FF2B5EF4-FFF2-40B4-BE49-F238E27FC236}">
                <a16:creationId xmlns:a16="http://schemas.microsoft.com/office/drawing/2014/main" id="{F79BF46C-E85A-48C4-E814-F5E873C116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78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                    </a:t>
            </a: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778865" y="1382908"/>
            <a:ext cx="10629900" cy="476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ALGORITHM 3: NLP Preprocessing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1800" b="1" dirty="0"/>
              <a:t>Principle:</a:t>
            </a:r>
            <a:br>
              <a:rPr lang="en-IN" sz="1800" dirty="0"/>
            </a:br>
            <a:r>
              <a:rPr lang="en-IN" sz="1800" dirty="0"/>
              <a:t>Cleans and prepares email text by removing unnecessary words and noise.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1800" b="1" dirty="0"/>
              <a:t>Advantages: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IN" sz="1800" dirty="0"/>
              <a:t>Improves classification accuracy. 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IN" sz="1800" dirty="0"/>
              <a:t>Reduces unnecessary data. 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IN" sz="1800" dirty="0"/>
              <a:t>Makes text easier to process.</a:t>
            </a:r>
            <a:endParaRPr sz="18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37419" y="20777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4267200" y="585271"/>
            <a:ext cx="502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002060"/>
                </a:solidFill>
              </a:rPr>
              <a:t>COMPARE ALGORITHM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IMPLEMENTATION IDEA</a:t>
            </a:r>
            <a:endParaRPr sz="2400" dirty="0"/>
          </a:p>
        </p:txBody>
      </p:sp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784575" y="1584960"/>
            <a:ext cx="10629900" cy="484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Collect a </a:t>
            </a:r>
            <a:r>
              <a:rPr lang="en-IN" sz="1800" b="1" dirty="0" err="1"/>
              <a:t>labeled</a:t>
            </a:r>
            <a:r>
              <a:rPr lang="en-IN" sz="1800" b="1" dirty="0"/>
              <a:t> email dataset</a:t>
            </a:r>
            <a:r>
              <a:rPr lang="en-IN" sz="1800" dirty="0"/>
              <a:t> containing Spam and Ham emails.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Preprocess the email text using </a:t>
            </a:r>
            <a:r>
              <a:rPr lang="en-IN" sz="1800" b="1" dirty="0"/>
              <a:t>NLP techniques</a:t>
            </a:r>
            <a:r>
              <a:rPr lang="en-IN" sz="1800" dirty="0"/>
              <a:t> such as tokenization and stop-word removal.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Convert the processed text into numerical features using </a:t>
            </a:r>
            <a:r>
              <a:rPr lang="en-IN" sz="1800" b="1" dirty="0"/>
              <a:t>TF-IDF</a:t>
            </a:r>
            <a:r>
              <a:rPr lang="en-IN" sz="1800" dirty="0"/>
              <a:t>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Train a </a:t>
            </a:r>
            <a:r>
              <a:rPr lang="en-IN" sz="1800" b="1" dirty="0"/>
              <a:t>Naive Bayes classifier</a:t>
            </a:r>
            <a:r>
              <a:rPr lang="en-IN" sz="1800" dirty="0"/>
              <a:t> using the prepared dataset.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Test the trained model with new and unseen emails.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Classify emails as </a:t>
            </a:r>
            <a:r>
              <a:rPr lang="en-IN" sz="1800" b="1" dirty="0"/>
              <a:t>Spam or Not Spam (Ham)</a:t>
            </a:r>
            <a:r>
              <a:rPr lang="en-IN" sz="1800" dirty="0"/>
              <a:t>. </a:t>
            </a:r>
          </a:p>
          <a:p>
            <a:pPr marL="514350" lvl="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Evaluate the system using </a:t>
            </a:r>
            <a:r>
              <a:rPr lang="en-IN" sz="1800" b="1" dirty="0"/>
              <a:t>Accuracy, Precision, Recall, F1-Score, and Confusion Matrix</a:t>
            </a:r>
            <a:r>
              <a:rPr lang="en-IN" sz="1800" dirty="0"/>
              <a:t>.</a:t>
            </a:r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37419" y="20777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540" cy="58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425" rIns="0" bIns="0" anchor="t" anchorCtr="0">
            <a:spAutoFit/>
          </a:bodyPr>
          <a:lstStyle/>
          <a:p>
            <a:pPr marL="259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2060"/>
                </a:solidFill>
              </a:rPr>
              <a:t>MODULES</a:t>
            </a:r>
            <a:endParaRPr sz="2400" dirty="0"/>
          </a:p>
        </p:txBody>
      </p:sp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1"/>
          <p:cNvSpPr txBox="1"/>
          <p:nvPr/>
        </p:nvSpPr>
        <p:spPr>
          <a:xfrm>
            <a:off x="778865" y="1596390"/>
            <a:ext cx="72129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Data collection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Gathers </a:t>
            </a:r>
            <a:r>
              <a:rPr lang="en-IN" sz="1800" dirty="0" err="1">
                <a:latin typeface="Arial"/>
                <a:ea typeface="Arial"/>
                <a:cs typeface="Arial"/>
                <a:sym typeface="Arial"/>
              </a:rPr>
              <a:t>labeled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 spam/ham and phishing/malware samples.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Preprocessing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Cleans and tokenizes email text.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Feature extraction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Converts text/metadata into numerical features.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Predicts spam/ham using Naive Bayes.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Link &amp; attachment analysis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Detects malicious URLs and unsafe files.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845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 b="1" dirty="0">
                <a:latin typeface="Arial"/>
                <a:ea typeface="Arial"/>
                <a:cs typeface="Arial"/>
                <a:sym typeface="Arial"/>
              </a:rPr>
              <a:t>Confidence scoring</a:t>
            </a: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: Assigns probability score to predictions.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 descr="$PPTXTitle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6552184" cy="594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75" rIns="0" bIns="0" anchor="t" anchorCtr="0">
            <a:spAutoFit/>
          </a:bodyPr>
          <a:lstStyle/>
          <a:p>
            <a:pPr marL="13849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002060"/>
                </a:solidFill>
              </a:rPr>
              <a:t>CONCLUSION</a:t>
            </a:r>
            <a:endParaRPr sz="2800">
              <a:solidFill>
                <a:srgbClr val="002060"/>
              </a:solidFill>
            </a:endParaRPr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 txBox="1"/>
          <p:nvPr/>
        </p:nvSpPr>
        <p:spPr>
          <a:xfrm>
            <a:off x="778865" y="1616202"/>
            <a:ext cx="9832340" cy="3043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The system successfully classifies emails as spam or ham using Naive Bayes and NLP.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Detects phishing links and malicious attachments for added security.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Confidence scoring reduces false positives by flagging uncertain cases for review.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Feedback-based retraining helps adapt to evolving spam patterns.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Provides a scalable, real-time solution that reduces manual effort and improves email security.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Future scope: explore deep learning (LSTM/BERT) for higher accuracy.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 descr="$PPTXTitle"/>
          <p:cNvSpPr txBox="1">
            <a:spLocks noGrp="1"/>
          </p:cNvSpPr>
          <p:nvPr>
            <p:ph type="title"/>
          </p:nvPr>
        </p:nvSpPr>
        <p:spPr>
          <a:xfrm>
            <a:off x="4037203" y="3083814"/>
            <a:ext cx="34575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/>
              <a:t>THANK YOU</a:t>
            </a:r>
            <a:endParaRPr sz="4400"/>
          </a:p>
        </p:txBody>
      </p:sp>
      <p:sp>
        <p:nvSpPr>
          <p:cNvPr id="165" name="Google Shape;165;p14"/>
          <p:cNvSpPr txBox="1"/>
          <p:nvPr/>
        </p:nvSpPr>
        <p:spPr>
          <a:xfrm>
            <a:off x="10581258" y="566419"/>
            <a:ext cx="38227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9" y="241300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114" y="236664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Widescreen</PresentationFormat>
  <Paragraphs>100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Wingdings</vt:lpstr>
      <vt:lpstr>Arial</vt:lpstr>
      <vt:lpstr>Noto Sans Symbols</vt:lpstr>
      <vt:lpstr>Times New Roman</vt:lpstr>
      <vt:lpstr>Calibri</vt:lpstr>
      <vt:lpstr>Tahoma</vt:lpstr>
      <vt:lpstr>Simple Light</vt:lpstr>
      <vt:lpstr>K. RAMAKRISHNAN COLLEGE OF TECHNOLOGY (AUTONOMOUS), TIRUCHIRAPALLI</vt:lpstr>
      <vt:lpstr>OBJECTIVE</vt:lpstr>
      <vt:lpstr>PROBLEM IDENTIFICATION</vt:lpstr>
      <vt:lpstr>FLOW DIAGRAM</vt:lpstr>
      <vt:lpstr>LITERATURE SURVEY</vt:lpstr>
      <vt:lpstr>RESEARCH METHODOLOGY</vt:lpstr>
      <vt:lpstr>COMPARE ALGORITHM</vt:lpstr>
      <vt:lpstr>COMPARE ALGORITHM</vt:lpstr>
      <vt:lpstr>                        </vt:lpstr>
      <vt:lpstr>IMPLEMENTATION IDEA</vt:lpstr>
      <vt:lpstr>MODULES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Rahini</dc:creator>
  <cp:lastModifiedBy>Kaviya S</cp:lastModifiedBy>
  <cp:revision>1</cp:revision>
  <dcterms:created xsi:type="dcterms:W3CDTF">2026-08-18T09:51:38Z</dcterms:created>
  <dcterms:modified xsi:type="dcterms:W3CDTF">2026-10-05T04:04:16Z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2026-08-18T00:00:00Z</vt:filetime>
  </property>
  <property fmtid="{D5CDD505-2E9C-101B-9397-08002B2CF9AE}" pid="6" name="Producer">
    <vt:lpwstr>Microsoft® PowerPoint® 2024</vt:lpwstr>
  </property>
</Properties>
</file>